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1):</a:t>
            </a:r>
          </a:p>
          <a:p>
            <a:r>
              <a:t>Welcome everyone. Today we present syntx, an exact, principled framework for diffeomorphic coordinate estimation on Riemannian manifolds, bridging differential geometry and modern GPU tensor computing.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2):</a:t>
            </a:r>
          </a:p>
          <a:p>
            <a:r>
              <a:t>In physical terms, we are seeking a coordinate pullback that maps the source image onto the target. Without strict geometric regularization, this inverse problem is severely ill-posed.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3):</a:t>
            </a:r>
          </a:p>
          <a:p>
            <a:r>
              <a:t>The Jacobian determinant det(J) is our core topological metric. A negative or zero determinant represents coordinate self-intersection where anatomical tissue would physically tear or collapse.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4):</a:t>
            </a:r>
          </a:p>
          <a:p>
            <a:r>
              <a:t>Rather than optimizing displacements directly, we optimize velocity fields in the Lie algebra. Integrating these smooth velocity fields automatically guarantees diffeomorphism.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5):</a:t>
            </a:r>
          </a:p>
          <a:p>
            <a:r>
              <a:t>LNCC is invariant to local gain and bias fields. It evaluates normalized cross-correlation inside small sliding windows, capturing fine structural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6):</a:t>
            </a:r>
          </a:p>
          <a:p>
            <a:r>
              <a:t>Here is a mathematical pitfall: unfloored variance causes derivative spikes of order 10^9 in flat regions. Imposing a safe floor of 10^-6 guarantees bounded descent trajectories.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7):</a:t>
            </a:r>
          </a:p>
          <a:p>
            <a:r>
              <a:t>For rigid and affine initialization, we map Lie algebra vectors into SO(3). Using a first-order Taylor limit at zero angle prevents gradient vanishing at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8):</a:t>
            </a:r>
          </a:p>
          <a:p>
            <a:r>
              <a:t>By deterministically perturbing along 18 Lie algebra cones and scoring via masked Mutual Information, we guarantee that the affine stage never gets trapped in bad local minima.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9):</a:t>
            </a:r>
          </a:p>
          <a:p>
            <a:r>
              <a:t>Every image interpolation acts as a spatial low-pass filter. In syntx, we compose all transforms in continuous coordinates and resample the original native image exactly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10):</a:t>
            </a:r>
          </a:p>
          <a:p>
            <a:r>
              <a:t>SyN solves the inverse consistency dilemma by meeting in the middle at a virtual Fréchet geodesic midpoint domain. Projecting onto antisymmetric velocities ensures zero center-of-mass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11):</a:t>
            </a:r>
          </a:p>
          <a:p>
            <a:r>
              <a:t>Just as in fluid mechanics, the Eulerian fixed-grid reference frame avoids the mesh tangling and severe distortion inherent in Lagrangian particle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12):</a:t>
            </a:r>
          </a:p>
          <a:p>
            <a:r>
              <a:t>Inverting dense vector fields is a nonlinear fixed-point problem. Anderson acceleration uses a history of five residual vectors to guarantee convergence to sub-voxel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13):</a:t>
            </a:r>
          </a:p>
          <a:p>
            <a:r>
              <a:t>Sampling coordinates on discrete grids creates micro-aliasing. Antithetic bootstrapping evaluates symmetric positive and negative sub-voxel offsets, cancelling noise with zero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14):</a:t>
            </a:r>
          </a:p>
          <a:p>
            <a:r>
              <a:t>LDDMM treats registration as fluid kinematics. Flowing along smooth velocity fields guarantees invertibility, while integrating backwards yields the exact inverse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15):</a:t>
            </a:r>
          </a:p>
          <a:p>
            <a:r>
              <a:t>We parameterize the continuous velocity trajectory using cubic spline ribbons and optimize a 3-point trajectory loss. This yields the highest registration accuracy in the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16):</a:t>
            </a:r>
          </a:p>
          <a:p>
            <a:r>
              <a:t>Standard Adam works well in deep learning, but in function spaces, dividing by small second moments amplifies noise into unit-magnitude spatial shears that rip the coordinate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17):</a:t>
            </a:r>
          </a:p>
          <a:p>
            <a:r>
              <a:t>SobolevAdam solves the metric collapse by passing Adam updates through the Sobolev Green operator and capping displacement steps at 0.50 voxels. This guarantees zero folding.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18):</a:t>
            </a:r>
          </a:p>
          <a:p>
            <a:r>
              <a:t>Periodic FFT filters cause artificial edge reflections. The Discrete Sine Transform Type-I analytically clamps boundary velocities to zero, preventing border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19):</a:t>
            </a:r>
          </a:p>
          <a:p>
            <a:r>
              <a:t>On the standardized 90-pair Mindboggle cohort, TVF won 90 out of 90 pairs with p = 8.3e-21, 0.000% folding, and a 16-second runtime on modern GPUs.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20):</a:t>
            </a:r>
          </a:p>
          <a:p>
            <a:r>
              <a:t>In conclusion, syntx bridges classical differential geometry and modern deep learning. We retain strict topological guarantees while exploiting tensor acceleration.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1  |  FOUNDATIONS &amp; OVERVIEW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Symmetric Diffeomorphic Registration on Riemannian Manifolds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A First-Principles Masterclass in Computational Anatomy, Infinite-Dimensional Lie Groups, &amp; Tensor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The Fundamental Goal: </a:t>
            </a:r>
            <a:r>
              <a:rPr sz="1150">
                <a:solidFill>
                  <a:srgbClr val="1E293B"/>
                </a:solidFill>
              </a:rPr>
              <a:t>Establish smooth, bijective coordinate mappings between continuous spatial coordinate domains $\Omega_F, \Omega_M \subset \mathbb{R}^3$.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The Mathematical Paradigm: </a:t>
            </a:r>
            <a:r>
              <a:rPr sz="1150">
                <a:solidFill>
                  <a:srgbClr val="1E293B"/>
                </a:solidFill>
              </a:rPr>
              <a:t>Formulate registration as variational geodesic optimization on the infinite-dimensional Lie group of diffeomorphisms $\text{Diff}(\Omega)$.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Core Engineering Innovations: </a:t>
            </a:r>
            <a:r>
              <a:rPr sz="1150">
                <a:solidFill>
                  <a:srgbClr val="1E293B"/>
                </a:solidFill>
              </a:rPr>
              <a:t>Safe autograd variance flooring, Eulerian Anderson involution, SobolevAdam Riemannian optimization, and exact DST-I Dirichlet boundaries.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Cohort Validation: </a:t>
            </a:r>
            <a:r>
              <a:rPr sz="1150">
                <a:solidFill>
                  <a:srgbClr val="1E293B"/>
                </a:solidFill>
              </a:rPr>
              <a:t>Demonstrated on the 90-Pair Mindboggle Benchmark: 100% zero-folding guarantee, +2.29% Cortical Dice gain, and 16-second GPU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yn_manifold_conceptual_v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2  |  PROBLEM FORMULATION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The Spatial Correspondence Problem on Continuous Domains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Why High-Dimensional Image Alignment is an Ill-Posed Variational Inverse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Continuous Spatial Mapping: </a:t>
            </a:r>
            <a:r>
              <a:rPr sz="1150">
                <a:solidFill>
                  <a:srgbClr val="1E293B"/>
                </a:solidFill>
              </a:rPr>
              <a:t>Given target $I_F(\mathbf{x})$ and source $I_M(\mathbf{x})$, find transformation $\Phi: \Omega \to \Omega$ such that $I_M(\Phi(\mathbf{x})) \approx I_F(\mathbf{x})$.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Infinite Degrees of Freedom: </a:t>
            </a:r>
            <a:r>
              <a:rPr sz="1150">
                <a:solidFill>
                  <a:srgbClr val="1E293B"/>
                </a:solidFill>
              </a:rPr>
              <a:t>Every voxel $\mathbf{x} = (x, y, z)$ possesses an independent displacement vector $\mathbf{u}(\mathbf{x}) \in \mathbb{R}^3$, yielding $\sim 10^7$ parameters in 3D.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Complex Biological Morphology: </a:t>
            </a:r>
            <a:r>
              <a:rPr sz="1150">
                <a:solidFill>
                  <a:srgbClr val="1E293B"/>
                </a:solidFill>
              </a:rPr>
              <a:t>Human cortical anatomy features sharp, nested gyral folds and deep sulcal fissures with high inter-subject anatomical variability.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Ill-Posed Nature: </a:t>
            </a:r>
            <a:r>
              <a:rPr sz="1150">
                <a:solidFill>
                  <a:srgbClr val="1E293B"/>
                </a:solidFill>
              </a:rPr>
              <a:t>Pure intensity matching is severely underconstrained; infinite non-physical deformations can produce identical image similarity without geometric validity.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spatial_inverse_problem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3  |  DIFFERENTIAL GEOMETRY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Topology Preservation &amp; The Jacobian Determinant $\det(J)$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Preventing Non-Physical Coordinate Singularities, Self-Intersections, &amp; Tearing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The Jacobian Matrix: </a:t>
            </a:r>
            <a:r>
              <a:rPr sz="1150">
                <a:solidFill>
                  <a:srgbClr val="1E293B"/>
                </a:solidFill>
              </a:rPr>
              <a:t>Local spatial scaling and orientation are governed by $\nabla \Phi(\mathbf{x}) = I + \nabla \mathbf{u}(\mathbf{x}) \in \mathbb{R}^{3 \times 3}$.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The Jacobian Determinant: </a:t>
            </a:r>
            <a:r>
              <a:rPr sz="1150">
                <a:solidFill>
                  <a:srgbClr val="1E293B"/>
                </a:solidFill>
              </a:rPr>
              <a:t>The scalar $J_\Phi(\mathbf{x}) = \det(\nabla \Phi(\mathbf{x}))$ measures infinitesimal volume expansion ($J &gt; 1$) or compression ($J &lt; 1$).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The Singularity Condition: </a:t>
            </a:r>
            <a:r>
              <a:rPr sz="1150">
                <a:solidFill>
                  <a:srgbClr val="1E293B"/>
                </a:solidFill>
              </a:rPr>
              <a:t>If $J_\Phi(\mathbf{x}) \le 0$, the coordinate transformation inverts its orientation, causing grid self-intersection, tearing, and loss of invertibility.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The Diffeomorphic Guarantee: </a:t>
            </a:r>
            <a:r>
              <a:rPr sz="1150">
                <a:solidFill>
                  <a:srgbClr val="1E293B"/>
                </a:solidFill>
              </a:rPr>
              <a:t>A valid anatomical map must satisfy $J_\Phi(\mathbf{x}) &gt; 0$ everywhere on $\Omega$, ensuring smooth bijectivity and topology preservation.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topology_preservation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4  |  MATHEMATICAL FOUNDATIONS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Diffeomorphisms on Infinite-Dimensional Lie Groups $\text{Diff}(\Omega)$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Generating Smooth Transformations via Flow of Velocity Fields on the Lie Algebra $\mathfrak{X}(\Omega)$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The Diffeomorphism Group: </a:t>
            </a:r>
            <a:r>
              <a:rPr sz="1150">
                <a:solidFill>
                  <a:srgbClr val="1E293B"/>
                </a:solidFill>
              </a:rPr>
              <a:t>$\text{Diff}(\Omega)$ forms an infinite-dimensional Lie group of smooth invertible mappings with smooth inverses.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The Lie Algebra $\mathfrak{g} = \mathfrak{X}(\Omega)$: </a:t>
            </a:r>
            <a:r>
              <a:rPr sz="1150">
                <a:solidFill>
                  <a:srgbClr val="1E293B"/>
                </a:solidFill>
              </a:rPr>
              <a:t>The tangent space at the identity corresponds to smooth Eulerian velocity vector fields $\mathbf{v}(\mathbf{x}) \in \mathbb{R}^3$.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Lagrangian Flow ODE: </a:t>
            </a:r>
            <a:r>
              <a:rPr sz="1150">
                <a:solidFill>
                  <a:srgbClr val="1E293B"/>
                </a:solidFill>
              </a:rPr>
              <a:t>Trajectories are generated by integrating ODEs: $\frac{d\phi(t, \mathbf{x})}{dt} = \mathbf{v}(t, \phi(t, \mathbf{x}))$ with $\phi(0, \mathbf{x}) = \mathbf{x}$.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Riemannian Geodesics: </a:t>
            </a:r>
            <a:r>
              <a:rPr sz="1150">
                <a:solidFill>
                  <a:srgbClr val="1E293B"/>
                </a:solidFill>
              </a:rPr>
              <a:t>Optimal deformations follow shortest-path geodesics on $\text{Diff}(\Omega)$ minimizing action integrals $\int_0^1 \|\mathbf{v}(t)\|_V^2 dt$.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tvf_manifold_conceptual_v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5  |  VARIATIONAL SIMILARITY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Local Normalized Cross-Correlation (LNCC) on Function Spaces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Robust Similarity Metric for Intensity Non-Uniformities and Contrast Inhomogeneities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Local Spatial Windowing: </a:t>
            </a:r>
            <a:r>
              <a:rPr sz="1150">
                <a:solidFill>
                  <a:srgbClr val="1E293B"/>
                </a:solidFill>
              </a:rPr>
              <a:t>Evaluated over localized spatial box/Gaussian neighborhoods $W(\mathbf{x})$ of radius $r=2$ ($5 \times 5 \times 5$ window).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Mathematical Formulation: </a:t>
            </a:r>
            <a:r>
              <a:rPr sz="1150">
                <a:solidFill>
                  <a:srgbClr val="1E293B"/>
                </a:solidFill>
              </a:rPr>
              <a:t>$\mathcal{L}_{\text{LNCC}} = - \int_\Omega \frac{\text{Cov}_W(I_F, I_M)^2}{\text{Var}_W(I_F) \cdot \text{Var}_W(I_M)} d\mathbf{x}$, invariant to local linear intensity scaling.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Analytical Gradient: </a:t>
            </a:r>
            <a:r>
              <a:rPr sz="1150">
                <a:solidFill>
                  <a:srgbClr val="1E293B"/>
                </a:solidFill>
              </a:rPr>
              <a:t>Functional derivative $\frac{\delta \mathcal{L}}{\delta I_M} = -\frac{2 r(\mathbf{x})}{\sqrt{s_{FF} s_{MM}}} \left( \tilde{I}_F - \frac{s_{FM}}{s_{MM}} \tilde{I}_M \right)$ drives spatial descent.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Deep Feature Extensions: </a:t>
            </a:r>
            <a:r>
              <a:rPr sz="1150">
                <a:solidFill>
                  <a:srgbClr val="1E293B"/>
                </a:solidFill>
              </a:rPr>
              <a:t>Easily extended to deep feature spaces (DINOv2, VGG Layer 4) for extreme cross-modality registration.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lncc_function_space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6  |  THEORETICAL ANALYSIS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The Variance Singularity: Proof &amp; Safe Variance Flooring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Regularizing the $\mathcal{O}(\text{Var}^{-1/2})$ Asymptotic Explosion in Homogeneous Tissue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The Singularity Hazard: </a:t>
            </a:r>
            <a:r>
              <a:rPr sz="1150">
                <a:solidFill>
                  <a:srgbClr val="1E293B"/>
                </a:solidFill>
              </a:rPr>
              <a:t>In uniform anatomical regions (white matter, ventricles, background), local variance vanishes: $\text{Var}_W(I) \to 0$.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Asymptotic Derivative Explosion: </a:t>
            </a:r>
            <a:r>
              <a:rPr sz="1150">
                <a:solidFill>
                  <a:srgbClr val="1E293B"/>
                </a:solidFill>
              </a:rPr>
              <a:t>$\lim_{s_{MM} \to 0} \|\frac{\delta \mathcal{L}}{\delta I_M}\| \sim \mathcal{O}(s_{MM}^{-1/2}) \to \infty$, injecting massive localized non-physical forces.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The Safe Floor Solution: </a:t>
            </a:r>
            <a:r>
              <a:rPr sz="1150">
                <a:solidFill>
                  <a:srgbClr val="1E293B"/>
                </a:solidFill>
              </a:rPr>
              <a:t>Enforce strict lower floor: $\text{Var}_{\text{safe}}(I) = \max(\text{Var}(I), 10^{-6})$, bounding functional gradients by $\|\frac{\delta \mathcal{L}}{\delta I}\|_\infty \le \frac{2}{\epsilon}$.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Empirical Impact: </a:t>
            </a:r>
            <a:r>
              <a:rPr sz="1150">
                <a:solidFill>
                  <a:srgbClr val="1E293B"/>
                </a:solidFill>
              </a:rPr>
              <a:t>Completely eliminates derivative spikes across flat regions, preventing local grid folds and ensuring stable optimization.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variance_floor_proof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7  |  GLOBAL ALIGNMENT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Lie Algebra $\mathfrak{so}(3)$ Parameterization &amp; Smooth Exponential Limit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Rigid &amp; Affine Initialization via Continuous Lie Group Geodesics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Special Orthogonal Group $\text{SO}(3)$: </a:t>
            </a:r>
            <a:r>
              <a:rPr sz="1150">
                <a:solidFill>
                  <a:srgbClr val="1E293B"/>
                </a:solidFill>
              </a:rPr>
              <a:t>Parameterize 3D rotations via angular velocity vector $\boldsymbol{\omega} = (\omega_x, \omega_y, \omega_z)^T \in \mathfrak{so}(3)$.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Rodrigues Exponential Map: </a:t>
            </a:r>
            <a:r>
              <a:rPr sz="1150">
                <a:solidFill>
                  <a:srgbClr val="1E293B"/>
                </a:solidFill>
              </a:rPr>
              <a:t>$R(\boldsymbol{\omega}) = I + \frac{\sin \theta}{\theta}[\boldsymbol{\omega}]_\times + \frac{1-\cos \theta}{\theta^2}[\boldsymbol{\omega}]_\times^2$ with rotation angle $\theta = \|\boldsymbol{\omega}\|_2$.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The Identity Gradient Discontinuity: </a:t>
            </a:r>
            <a:r>
              <a:rPr sz="1150">
                <a:solidFill>
                  <a:srgbClr val="1E293B"/>
                </a:solidFill>
              </a:rPr>
              <a:t>Conditional branches (`if theta == 0`) create zero-gradient lockup at identity initialization.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First-Order Taylor Continuity: </a:t>
            </a:r>
            <a:r>
              <a:rPr sz="1150">
                <a:solidFill>
                  <a:srgbClr val="1E293B"/>
                </a:solidFill>
              </a:rPr>
              <a:t>We evaluate smooth Taylor limit $\lim_{\theta \to 0} R(\boldsymbol{\omega}) = I + [\boldsymbol{\omega}]_\times$, ensuring continuous backpropagation.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so3_lie_algebra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8  |  OPTIMIZATION BASINS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Deterministic 18-Cone Multi-Start Lattice Search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Escaping Non-Convex Angular Traps with Foreground Union-Masked Mutual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Non-Convex Angular Energy Landscapes: </a:t>
            </a:r>
            <a:r>
              <a:rPr sz="1150">
                <a:solidFill>
                  <a:srgbClr val="1E293B"/>
                </a:solidFill>
              </a:rPr>
              <a:t>Gradient descent from identity frequently stalls in local rotational minima ($&gt;20^\circ$ angular error).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18-Cone Perturbation Lattice: </a:t>
            </a:r>
            <a:r>
              <a:rPr sz="1150">
                <a:solidFill>
                  <a:srgbClr val="1E293B"/>
                </a:solidFill>
              </a:rPr>
              <a:t>Deterministic search over 18 geodesic directions in $\mathfrak{so}(3)$ covering pitch, yaw, roll, and compound rotations.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Foreground Masked Mutual Information: </a:t>
            </a:r>
            <a:r>
              <a:rPr sz="1150">
                <a:solidFill>
                  <a:srgbClr val="1E293B"/>
                </a:solidFill>
              </a:rPr>
              <a:t>Evaluates candidate alignments on union mask $\Omega_{\text{fg}} = (I_F &gt; 0.01) \cup (I_M &gt; 0.01)$, eliminating background bias.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100% Basin Lock Rate: </a:t>
            </a:r>
            <a:r>
              <a:rPr sz="1150">
                <a:solidFill>
                  <a:srgbClr val="1E293B"/>
                </a:solidFill>
              </a:rPr>
              <a:t>Achieves 100% (16/16) global basin recovery, locking a canonical affine baseline ($0.3499 \pm 0.02$ Cortical Dice).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18cone_multistart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9  |  INFORMATICS INVARIANT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The Single Interpolation Principle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Preserving High-Frequency Boundaries by Eliminating Intermediate Pre-Warping Cascades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The Multi-Resampling Trap: </a:t>
            </a:r>
            <a:r>
              <a:rPr sz="1150">
                <a:solidFill>
                  <a:srgbClr val="1E293B"/>
                </a:solidFill>
              </a:rPr>
              <a:t>Classical multi-stage pipelines resample images at each stage (rigid $\to$ affine $\to$ deformable).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Spatial Boundary Blurring: </a:t>
            </a:r>
            <a:r>
              <a:rPr sz="1150">
                <a:solidFill>
                  <a:srgbClr val="1E293B"/>
                </a:solidFill>
              </a:rPr>
              <a:t>Successive interpolation acts as a cascade of low-pass filters ($I_{\text{final}} = I_0 * K_{\sigma_1} * K_{\sigma_2} * \dots$), attenuating fine sulcal edges.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Exact Continuous Composition: </a:t>
            </a:r>
            <a:r>
              <a:rPr sz="1150">
                <a:solidFill>
                  <a:srgbClr val="1E293B"/>
                </a:solidFill>
              </a:rPr>
              <a:t>We compose transformations analytically in coordinate space: $\Phi_{\text{composite}}(\mathbf{x}) = \phi \circ A \circ T_0(\mathbf{x})$.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Single Pullback Invariant: </a:t>
            </a:r>
            <a:r>
              <a:rPr sz="1150">
                <a:solidFill>
                  <a:srgbClr val="1E293B"/>
                </a:solidFill>
              </a:rPr>
              <a:t>Native high-resolution image intensities and discrete label maps are sampled **exactly once** via $\Phi_{\text{composite}}$.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single_interpolation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10  |  SYMMETRIC FORMULATION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Symmetric Normalization (SyN) &amp; Fréchet Midpoint Anchoring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Eliminating Template Bias via Antisymmetric Half-Geodesic Geodesic Splitting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Template Asymmetry Pathology: </a:t>
            </a:r>
            <a:r>
              <a:rPr sz="1150">
                <a:solidFill>
                  <a:srgbClr val="1E293B"/>
                </a:solidFill>
              </a:rPr>
              <a:t>Optimizing $M \to F$ yields different anatomical correspondences than optimizing $F \to M$.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Fréchet Midpoint Domain $\Omega_{1/2}$: </a:t>
            </a:r>
            <a:r>
              <a:rPr sz="1150">
                <a:solidFill>
                  <a:srgbClr val="1E293B"/>
                </a:solidFill>
              </a:rPr>
              <a:t>SyN optimizes two coupled half-geodesic trajectories $\phi_{l2r}: \Omega_{1/2} \to \Omega_F$ and $\phi_{r2l}: \Omega_{1/2} \to \Omega_M$.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Antisymmetric Velocity Projection: </a:t>
            </a:r>
            <a:r>
              <a:rPr sz="1150">
                <a:solidFill>
                  <a:srgbClr val="1E293B"/>
                </a:solidFill>
              </a:rPr>
              <a:t>Decompose velocity updates into symmetric and antisymmetric subspaces; enforce $\delta_l + \delta_r \equiv \mathbf{0}$.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Drift Elimination: </a:t>
            </a:r>
            <a:r>
              <a:rPr sz="1150">
                <a:solidFill>
                  <a:srgbClr val="1E293B"/>
                </a:solidFill>
              </a:rPr>
              <a:t>Antisymmetric projection eliminates common-mode translational drift, strictly anchoring $\Omega_{1/2}$ at the Fréchet geodesic mean.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syn_frechet_midpoint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11  |  COMPUTATIONAL MECHANICS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Eulerian vs. Lagrangian Coordinate Formulations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Why Fixed Spatial Grid Inversion Outperforms Deforming Particle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Lagrangian Grid Tracking: </a:t>
            </a:r>
            <a:r>
              <a:rPr sz="1150">
                <a:solidFill>
                  <a:srgbClr val="1E293B"/>
                </a:solidFill>
              </a:rPr>
              <a:t>Tracks particle positions along deformation paths; requires tracking distorted coordinate grids and heavy gradient smoothing.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Eulerian Fixed Reference Frame: </a:t>
            </a:r>
            <a:r>
              <a:rPr sz="1150">
                <a:solidFill>
                  <a:srgbClr val="1E293B"/>
                </a:solidFill>
              </a:rPr>
              <a:t>Evaluates velocity vector fields on a fixed, regular spatial coordinate lattice $\mathbf{x} \in \Omega$.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Composition Stability: </a:t>
            </a:r>
            <a:r>
              <a:rPr sz="1150">
                <a:solidFill>
                  <a:srgbClr val="1E293B"/>
                </a:solidFill>
              </a:rPr>
              <a:t>Eulerian field composition $\phi_{k+1} = \phi_k \circ (\text{Id} + \mathbf{v}_k)$ is computationally robust and fold-resistant.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Superior Accuracy: </a:t>
            </a:r>
            <a:r>
              <a:rPr sz="1150">
                <a:solidFill>
                  <a:srgbClr val="1E293B"/>
                </a:solidFill>
              </a:rPr>
              <a:t>Eulerian SyN achieves $0.6382$ Mean Cortical Dice vs $0.6216$ for classical ANTs SyN with $0.000\%$ folding across the cohort.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eulerian_vs_lagrangian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12  |  NUMERICAL ANALYSIS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Sub-Voxel Involution via In-Loop Anderson Acceleration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Guaranteeing Exact Diffeomorphic Inversion $\phi \circ \phi^{-1} \equiv \text{Id}$ without Numerical Divergence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The Inversion Fixed-Point Problem: </a:t>
            </a:r>
            <a:r>
              <a:rPr sz="1150">
                <a:solidFill>
                  <a:srgbClr val="1E293B"/>
                </a:solidFill>
              </a:rPr>
              <a:t>The inverse displacement solves $\mathbf{u}_{\text{inv}}(\mathbf{x}) = -\mathbf{u}_{\text{fwd}}(\mathbf{x} + \mathbf{u}_{\text{inv}}(\mathbf{x}))$.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Picard Iteration Divergence: </a:t>
            </a:r>
            <a:r>
              <a:rPr sz="1150">
                <a:solidFill>
                  <a:srgbClr val="1E293B"/>
                </a:solidFill>
              </a:rPr>
              <a:t>Standard Picard stepping diverges when local strain $\|\nabla \mathbf{u}\| &gt; 1$, causing numerical breakdown in high-deformation zones.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Anderson Mixing Depth ($m=5$): </a:t>
            </a:r>
            <a:r>
              <a:rPr sz="1150">
                <a:solidFill>
                  <a:srgbClr val="1E293B"/>
                </a:solidFill>
              </a:rPr>
              <a:t>Computes optimal multi-vector linear combination $\mathbf{u}^{k+1} = \sum_{j=0}^m \alpha_j^* \mathbf{g}(\mathbf{u}_j^k)$ minimizing residual history.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Sub-Voxel Precision: </a:t>
            </a:r>
            <a:r>
              <a:rPr sz="1150">
                <a:solidFill>
                  <a:srgbClr val="1E293B"/>
                </a:solidFill>
              </a:rPr>
              <a:t>Achieves $&lt;0.025\text{ mm}$ mean identity error ($\|\mathbf{e}_{\text{inv}}\| &lt; 1/40\text{th}$ voxel) inside the active optimization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anderson_acceleration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13  |  STOCHASTIC REGULARITY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Unbiased Antithetic Bootstrapped Gradient Estimation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Destructively Cancelling Discrete Coordinate Discretization Noise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Coordinate Discretization Aliasing: </a:t>
            </a:r>
            <a:r>
              <a:rPr sz="1150">
                <a:solidFill>
                  <a:srgbClr val="1E293B"/>
                </a:solidFill>
              </a:rPr>
              <a:t>Discrete sampling lattices $\mathbf{X} \in \mathbb{Z}^d$ induce high-frequency micro-shears at sharp cortical sulcal boundaries.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Symmetric Triplet Sampling: </a:t>
            </a:r>
            <a:r>
              <a:rPr sz="1150">
                <a:solidFill>
                  <a:srgbClr val="1E293B"/>
                </a:solidFill>
              </a:rPr>
              <a:t>Evaluate gradient at native point and symmetric sub-voxel offsets: $(\mathbf{X}, \mathbf{X}+\boldsymbol{\delta}, \mathbf{X}-\boldsymbol{\delta})$ with $\boldsymbol{\delta} \sim \mathcal{U}(-0.25, 0.25)$.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Zero Directional Expectation: </a:t>
            </a:r>
            <a:r>
              <a:rPr sz="1150">
                <a:solidFill>
                  <a:srgbClr val="1E293B"/>
                </a:solidFill>
              </a:rPr>
              <a:t>Because $\mathbb{E}[\boldsymbol{\delta} + (-\boldsymbol{\delta})] = \mathbf{0}$, the estimator introduces zero directional bias or spatial drift.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Bending Energy Reduction: </a:t>
            </a:r>
            <a:r>
              <a:rPr sz="1150">
                <a:solidFill>
                  <a:srgbClr val="1E293B"/>
                </a:solidFill>
              </a:rPr>
              <a:t>Destructively cancels discrete interpolation noise, cutting thin-plate bending energy by $&gt;50\%$ ($\text{Bnd}=0.0067$ vs ANTs $0.0169$).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antithetic_bootstrapping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14  |  CONTINUOUS KINEMATICS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Large Deformation Diffeomorphic Metric Mapping (LDDMM)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Formulating Deformations as Continuous Flow of Time-Dependent Velocity Vector Fields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Continuous Kinematic Flow: </a:t>
            </a:r>
            <a:r>
              <a:rPr sz="1150">
                <a:solidFill>
                  <a:srgbClr val="1E293B"/>
                </a:solidFill>
              </a:rPr>
              <a:t>Transformation $\phi(t, \mathbf{x})$ is generated by integrating $\frac{d\phi(t, \mathbf{x})}{dt} = \mathbf{v}(t, \phi(t, \mathbf{x}))$ over $t \in [0, 1]$.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Kinetic Energy Action: </a:t>
            </a:r>
            <a:r>
              <a:rPr sz="1150">
                <a:solidFill>
                  <a:srgbClr val="1E293B"/>
                </a:solidFill>
              </a:rPr>
              <a:t>Flow energy is defined by $E(\mathbf{v}) = \frac{1}{2} \int_0^1 \langle \mathcal{L} \mathbf{v}(t), \mathbf{v}(t) \rangle_{L^2} dt$, where $\mathcal{L} = (I - \alpha \Delta)^s$ enforces smoothness.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Diffeomorphic Closure: </a:t>
            </a:r>
            <a:r>
              <a:rPr sz="1150">
                <a:solidFill>
                  <a:srgbClr val="1E293B"/>
                </a:solidFill>
              </a:rPr>
              <a:t>Sufficiently smooth velocity fields ($\|\mathbf{v}(t)\|_V &lt; \infty$) mathematically guarantee that $\phi(1, \cdot)$ is a diffeomorphic mapping.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Inverse Consistency by Construction: </a:t>
            </a:r>
            <a:r>
              <a:rPr sz="1150">
                <a:solidFill>
                  <a:srgbClr val="1E293B"/>
                </a:solidFill>
              </a:rPr>
              <a:t>The exact inverse map is integrated along the reversed flow: $\phi_{\text{inv}} = \int_1^0 -\mathbf{v}(t) dt$, with zero inversion 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lddmm_kinetic_action_v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15  |  TRAJECTORY OPTIMIZATION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Time-Varying Velocity Fields (TVF) &amp; Spline Parameterization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Multi-Keyframe Spline Interpolation with Multi-Point Trajectory Loss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Catmull-Rom Cubic Spline Ribbon: </a:t>
            </a:r>
            <a:r>
              <a:rPr sz="1150">
                <a:solidFill>
                  <a:srgbClr val="1E293B"/>
                </a:solidFill>
              </a:rPr>
              <a:t>Parameterize continuous velocity $\mathbf{v}(t, \mathbf{x})$ via $T$ discrete keyframe tensors with $C^1$-continuous temporal interpolation.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3-Point Trajectory Functional: </a:t>
            </a:r>
            <a:r>
              <a:rPr sz="1150">
                <a:solidFill>
                  <a:srgbClr val="1E293B"/>
                </a:solidFill>
              </a:rPr>
              <a:t>Evaluate similarity at trajectory start ($t=0.0$), midpoint ($t=0.5$), and endpoint ($t=1.0$): $\mathcal{L}_{\text{TVF}} = \frac{1}{3}(\mathcal{L}_0 + \mathcal{L}_{0.5} + \mathcal{L}_1)$.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Continuous Geodesic Shooting: </a:t>
            </a:r>
            <a:r>
              <a:rPr sz="1150">
                <a:solidFill>
                  <a:srgbClr val="1E293B"/>
                </a:solidFill>
              </a:rPr>
              <a:t>Euler ODE stepping with $N_{\text{steps}}=8$ integrates the smooth displacement field across time.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Decisive Performance Win: </a:t>
            </a:r>
            <a:r>
              <a:rPr sz="1150">
                <a:solidFill>
                  <a:srgbClr val="1E293B"/>
                </a:solidFill>
              </a:rPr>
              <a:t>Achieves a **100% win sweep (90/90 wins)** across the Mindboggle cohort with **`0.6445` Mean Symmetric Cortical Dice**.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tvf_spline_trajectory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16  |  OPTIMIZATION THEORY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The Metric Collapse of Pointwise Adaptive Optimizers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Why Standard Adam Destroys Sobolev Regularity in Infinite-Dimensional Function Spaces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Pointwise Adam in Finite Dimensions: </a:t>
            </a:r>
            <a:r>
              <a:rPr sz="1150">
                <a:solidFill>
                  <a:srgbClr val="1E293B"/>
                </a:solidFill>
              </a:rPr>
              <a:t>Standard Adam normalizes parameter updates: $\Delta \mathbf{v} = \frac{m_t / (1-\beta_1^t)}{\sqrt{v_t / (1-\beta_2^t)} + \epsilon}$.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Metric Collapse on Function Spaces: </a:t>
            </a:r>
            <a:r>
              <a:rPr sz="1150">
                <a:solidFill>
                  <a:srgbClr val="1E293B"/>
                </a:solidFill>
              </a:rPr>
              <a:t>In flat image regions ($g_t \to 0$), the second moment $v_t \to 0$. Pointwise division scales infinitesimal noise up to unit magnitude $\mathcal{O}(1)$.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Spatial Decorrelation: </a:t>
            </a:r>
            <a:r>
              <a:rPr sz="1150">
                <a:solidFill>
                  <a:srgbClr val="1E293B"/>
                </a:solidFill>
              </a:rPr>
              <a:t>Voxel-wise independent scaling destroys spatial correlation between neighboring coordinates, injecting high-frequency micro-shears.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Severe Grid Folding: </a:t>
            </a:r>
            <a:r>
              <a:rPr sz="1150">
                <a:solidFill>
                  <a:srgbClr val="1E293B"/>
                </a:solidFill>
              </a:rPr>
              <a:t>Unregularized Adam drives Jacobian determinants negative ($\det(J) \le 0$), causing catastrophic topological collapse.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sobolev_adam_comparison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17  |  RIEMANNIAN OPTIMIZATION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Riemannian `SobolevAdam` &amp; Adaptive CFL Step Bounding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Hilbert Space $H^s$ Metric Preconditioning for Diffeomorphic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Sobolev Metric Preconditioning: </a:t>
            </a:r>
            <a:r>
              <a:rPr sz="1150">
                <a:solidFill>
                  <a:srgbClr val="1E293B"/>
                </a:solidFill>
              </a:rPr>
              <a:t>Precondition Adam updates with the Sobolev Green operator: $\Delta \mathbf{v}_{\text{Sobolev}} = \mathcal{G} \cdot \Delta \mathbf{v}_{\text{Adam}} = (I - \alpha \Delta)^{-s} \Delta \mathbf{v}$.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Restoring Spatial Correlation: </a:t>
            </a:r>
            <a:r>
              <a:rPr sz="1150">
                <a:solidFill>
                  <a:srgbClr val="1E293B"/>
                </a:solidFill>
              </a:rPr>
              <a:t>Low-pass filters high-frequency quotient noise while preserving adaptive learning rates along anatomical boundaries.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Adaptive Courant-Friedrichs-Lewy (CFL) Bound: </a:t>
            </a:r>
            <a:r>
              <a:rPr sz="1150">
                <a:solidFill>
                  <a:srgbClr val="1E293B"/>
                </a:solidFill>
              </a:rPr>
              <a:t>Enforce step displacement limit $\max \|\mathbf{s}\|_2 \le 0.50\text{ voxels}$, preventing discrete coordinate crossover during Euler stepping.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Strict Diffeomorphic Output: </a:t>
            </a:r>
            <a:r>
              <a:rPr sz="1150">
                <a:solidFill>
                  <a:srgbClr val="1E293B"/>
                </a:solidFill>
              </a:rPr>
              <a:t>Guarantees strictly positive Jacobian determinants ($\min \det(J) \ge +0.0517 &gt; 0$) with **`0.0000%` grid folding**.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sobolev_adam_comparison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18  |  BOUNDARY OPERATORS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Exact Homogeneous Dirichlet Boundary Operators (DST-I)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Eliminating Periodic FFT Edge Reflections via Discrete Sine Transforms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The Periodic Boundary Flaw: </a:t>
            </a:r>
            <a:r>
              <a:rPr sz="1150">
                <a:solidFill>
                  <a:srgbClr val="1E293B"/>
                </a:solidFill>
              </a:rPr>
              <a:t>Standard Fourier FFT filtering assumes periodic domain boundary conditions, creating non-physical circular reflections at image edges $\partial \Omega$.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Separable DST-I Basis: </a:t>
            </a:r>
            <a:r>
              <a:rPr sz="1150">
                <a:solidFill>
                  <a:srgbClr val="1E293B"/>
                </a:solidFill>
              </a:rPr>
              <a:t>Project velocity updates onto orthogonal Dirichlet sine modes: $S(k, n) = \sqrt{\frac{2}{N+1}} \sin\left(\frac{\pi (k+1)(n+1)}{N+1}\right)$.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Exact Zero Boundary Clamping: </a:t>
            </a:r>
            <a:r>
              <a:rPr sz="1150">
                <a:solidFill>
                  <a:srgbClr val="1E293B"/>
                </a:solidFill>
              </a:rPr>
              <a:t>Analytically guarantees $\mathbf{v}(\mathbf{x} \in \partial \Omega) \equiv \mathbf{0}$, preventing outer boundary coordinate drift.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Dirichlet Green Operator: </a:t>
            </a:r>
            <a:r>
              <a:rPr sz="1150">
                <a:solidFill>
                  <a:srgbClr val="1E293B"/>
                </a:solidFill>
              </a:rPr>
              <a:t>$\mathcal{G}_{\text{DSTI1}} = \mathbf{S}^{-1}(I + \alpha \mathbf{\Lambda})^{-1}\mathbf{S}$ provides exact closed-form Sobolev preconditioning without boundary leakage.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dsti_boundary_operators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19  |  EMPIRICAL BENCHMARKS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Cohort Metrology on the 90-Pair Mindboggle Benchmark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Statistical Inference, Anatomical Edge Snapping, &amp; 16-Second GPU Acceleration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Decisive Statistical Superiority: </a:t>
            </a:r>
            <a:r>
              <a:rPr sz="1150">
                <a:solidFill>
                  <a:srgbClr val="1E293B"/>
                </a:solidFill>
              </a:rPr>
              <a:t>90-Pair paired $t$-test: $t=12.2539, p=8.33 \times 10^{-21}$; Wilcoxon signed-rank: $W=21.0, p=3.52 \times 10^{-16}$; Cohen's $d=1.2917$.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Win Rate Leadership: </a:t>
            </a:r>
            <a:r>
              <a:rPr sz="1150">
                <a:solidFill>
                  <a:srgbClr val="1E293B"/>
                </a:solidFill>
              </a:rPr>
              <a:t>TVF achieves a **100% win sweep (90/90 wins)** with `0.6445` Mean Symmetric Cortical Dice (+2.29% over ANTs reference).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100% Zero-Folding Guarantee: </a:t>
            </a:r>
            <a:r>
              <a:rPr sz="1150">
                <a:solidFill>
                  <a:srgbClr val="1E293B"/>
                </a:solidFill>
              </a:rPr>
              <a:t>100.0% of cohort pairs achieve strictly positive Jacobian determinants ($\det(J) &gt; 0$ across all 90 pairs).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Wall-Clock Acceleration: </a:t>
            </a:r>
            <a:r>
              <a:rPr sz="1150">
                <a:solidFill>
                  <a:srgbClr val="1E293B"/>
                </a:solidFill>
              </a:rPr>
              <a:t>Full deformable 3D volume registration completes in **`~12–16s` per pair on modern GPU architectures** ($7.5\times - 24\times$ speedup).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cohort90_metrology_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SLIDE 20  |  SYNTHESIS &amp; THE FUTURE</a:t>
            </a:r>
          </a:p>
          <a:p>
            <a:pPr>
              <a:spcAft>
                <a:spcPts val="300"/>
              </a:spcAft>
              <a:defRPr sz="2000" b="1">
                <a:solidFill>
                  <a:srgbClr val="0F172A"/>
                </a:solidFill>
              </a:defRPr>
            </a:pPr>
            <a:r>
              <a:t>The Future of Diffeomorphic AI: Variational Guarantees in Deep Learning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Unifying Deep Representation Learning with Topological Invariance &amp; Mathematical Rigor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Unified Algorithmic Suite: </a:t>
            </a:r>
            <a:r>
              <a:rPr sz="1150">
                <a:solidFill>
                  <a:srgbClr val="1E293B"/>
                </a:solidFill>
              </a:rPr>
              <a:t>`syntx` unifies affine initialization, Eulerian SyN, TVF LDDMM, and SobolevAdam into a modular, single-interpolation framework.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Bridging Deep Features &amp; Manifolds: </a:t>
            </a:r>
            <a:r>
              <a:rPr sz="1150">
                <a:solidFill>
                  <a:srgbClr val="1E293B"/>
                </a:solidFill>
              </a:rPr>
              <a:t>Seamlessly integrates deep visual representations (DINOv2, VGG) with exact diffeomorphic optimization.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Single-Shot Inference + Variational Guarantees: </a:t>
            </a:r>
            <a:r>
              <a:rPr sz="1150">
                <a:solidFill>
                  <a:srgbClr val="1E293B"/>
                </a:solidFill>
              </a:rPr>
              <a:t>Combines the execution speed of tensor neural networks with the mathematical guarantees of Riemannian differential geometry.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0F172A"/>
                </a:solidFill>
              </a:rPr>
              <a:t>• Open-Source &amp; Fully Reproducible: </a:t>
            </a:r>
            <a:r>
              <a:rPr sz="1150">
                <a:solidFill>
                  <a:srgbClr val="1E293B"/>
                </a:solidFill>
              </a:rPr>
              <a:t>Complete code, benchmark pipelines, interactive HTML reports, and figures are open-source and reproducible.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diffeomorphic_ai_future_v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